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AD8B2-CE85-A060-21D7-57D7B15A8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3060B0-C547-542A-5CED-654138E5B7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074DB-924D-B9E2-EAC7-9576B9B8F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A30E-C108-4E5F-8DAA-3CBDAE82EE1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EF5AB-F748-9EBF-2299-5A04158C1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17861-BC1F-2B86-DD7B-6E7525202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DB7F-7206-49C0-89A0-0424ABDA5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42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7B62-CD83-2D45-4858-51AABD95D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95BC0-3F4A-0F73-69F8-D56C6A84D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CD358-E9DE-1BDB-DBE4-31A77F11E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A30E-C108-4E5F-8DAA-3CBDAE82EE1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C8EB9-0523-5FA6-C70B-8369D30F8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DEB6B-9F01-1589-327D-8E0FDBEEB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DB7F-7206-49C0-89A0-0424ABDA5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93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640D9-32AD-71DF-86C9-E51D2D83E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C0D82-CE8E-759D-1198-92949AB2E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7CD60-4897-E188-1D8F-3D32C7233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A30E-C108-4E5F-8DAA-3CBDAE82EE1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85E86-517E-0A14-F7CF-197011409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DCEF1-922A-AE41-A713-85FEB67FC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DB7F-7206-49C0-89A0-0424ABDA5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51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DFAAE-E473-2136-CDC3-CC93B8943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5384B-3A65-DE27-DC6E-CCE6EEF7C6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BD297-E119-8141-9C4B-1BD8AA844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25E77-37C0-748A-CDB0-F5C110520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A30E-C108-4E5F-8DAA-3CBDAE82EE1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F3831-1261-8ED9-5AD1-7090F696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155A9-9AC9-8907-60D2-A7E2EF65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DB7F-7206-49C0-89A0-0424ABDA5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679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1EE16-3ED0-539E-7DB2-CC64BCA2D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1BD72-7D49-FAE3-5541-A1C6DF61B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CF330-DC41-C0C9-CFC9-4E8140253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86563F-9A92-E2C1-0A6E-A3B86322B7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5D712D-8261-E73D-C1F9-82E7EB74D6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85BCDF-AD58-1BA7-479D-1E9E46F71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A30E-C108-4E5F-8DAA-3CBDAE82EE1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EC33BC-B9DF-94AB-A16B-78E6503BC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BD074C-F459-6498-3245-496B813E6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DB7F-7206-49C0-89A0-0424ABDA5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166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CBAB9-0F4F-EFF1-1F2D-9136423C5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FCCF0D-6D18-52CF-7AD6-9E20031B6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A30E-C108-4E5F-8DAA-3CBDAE82EE1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593AC-E78A-EEB2-0F0A-8F9DF9FB0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4E1F9B-0040-AF7E-8117-F8993C5D7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DB7F-7206-49C0-89A0-0424ABDA5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07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EF857E-CBA8-F32D-55FD-AB2332361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A30E-C108-4E5F-8DAA-3CBDAE82EE1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8389D1-7E40-1D98-DFE6-1C82A6A54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81232-02CE-8776-F016-78D6B08DC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DB7F-7206-49C0-89A0-0424ABDA5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2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66F4D-36CC-8650-81C6-015DD5C5D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BDCF8-09AA-28B8-D48D-36DB7B99A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110F6-44F9-1630-A336-07AF8927FD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DBB0A-6E25-4792-AA1E-CA4E1B07F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A30E-C108-4E5F-8DAA-3CBDAE82EE1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538D8-F5C9-EA78-5739-62876B9E7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3F185-A710-3031-E7EC-D7A416A98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DB7F-7206-49C0-89A0-0424ABDA5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36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5E9BB-94F2-AD58-307B-481D58493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4AA14A-4928-FBFD-AD46-85B19BE3BC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FCB4D6-8B61-3F2E-4814-BE46551C9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91476-3933-EF1B-5789-23A5890B7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A30E-C108-4E5F-8DAA-3CBDAE82EE1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57332-CD14-69CF-3E1D-1C659C2B9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40F4D-66BE-A602-0CE3-B3B240332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DB7F-7206-49C0-89A0-0424ABDA5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897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337DF-6A58-FF50-3442-F2A5CE21B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AB09C2-F0A0-9A1E-F79F-F43E8A7B4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5E595-278E-C115-9184-90C2DC010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A30E-C108-4E5F-8DAA-3CBDAE82EE1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78974-C770-31AA-01E7-90F6E1BB1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C6FAE-473E-13B1-C0DA-8BE3EFEF4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DB7F-7206-49C0-89A0-0424ABDA5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620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9DF940-6C31-377F-C48F-100A03F353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9A99CE-B6AC-C14A-5BEA-618C4ADB9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EC637-7720-5180-5F02-3A384D55E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A30E-C108-4E5F-8DAA-3CBDAE82EE1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117B-6D51-A57D-3746-6A158F69B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51B22-BA26-3A20-2BA4-4102DC16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DB7F-7206-49C0-89A0-0424ABDA5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30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Col Header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 goes here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D8D5D26-AE04-4CFB-B6D8-963F84EF16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661" y="723900"/>
            <a:ext cx="11003027" cy="307777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>
              <a:defRPr lang="en-US" sz="15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5116EF4-EDE2-4985-AFAE-ECA4F0D6CE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3990" y="1270000"/>
            <a:ext cx="3509698" cy="41812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09504B-86F3-42DF-8BC7-C509620292D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93990" y="1860141"/>
            <a:ext cx="3507052" cy="41365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D157D37-8433-4C93-9DFE-D01B2D5A24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0491" y="1270000"/>
            <a:ext cx="3512344" cy="41812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 dirty="0"/>
              <a:t>Column 2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850B7DD3-3932-4C6C-8E75-2FE25CB1EEF8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345782" y="1860141"/>
            <a:ext cx="3507052" cy="41365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9C1C6D2-B908-4D86-B250-B4B5BC34D0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89637" y="1270000"/>
            <a:ext cx="3506387" cy="41812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3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9560ED45-5E5D-4885-ADF5-5F669AD6649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089636" y="1860141"/>
            <a:ext cx="3507052" cy="41365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93A936A7-D74D-4854-9AC1-14E85A55F1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6146524"/>
            <a:ext cx="9140031" cy="104580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75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5F74B-6A97-4B13-B2AD-5ABEF471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 (Edit on Slide Master)   |   Month ##, 2021   |   Confidential, for Internal Use Only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D0300D1-3F1C-4290-A0D1-7CD19DBD99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737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7B4498-F104-CA45-0AB6-A660F729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5E522-05C7-D671-73BF-273806434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9B137-CB6F-51AD-42B8-17CADBDC5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22A30E-C108-4E5F-8DAA-3CBDAE82EE19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C10D1-755E-6A40-F642-78F979AEA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23B8F-FAD8-633D-05FA-398D14D33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4EDB7F-7206-49C0-89A0-0424ABDA5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234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28863E1A-9B8F-4C58-BD54-A6141EA08ECD}"/>
              </a:ext>
            </a:extLst>
          </p:cNvPr>
          <p:cNvGraphicFramePr>
            <a:graphicFrameLocks noGrp="1"/>
          </p:cNvGraphicFramePr>
          <p:nvPr/>
        </p:nvGraphicFramePr>
        <p:xfrm>
          <a:off x="83206" y="92803"/>
          <a:ext cx="12025589" cy="505356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4417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4480">
                  <a:extLst>
                    <a:ext uri="{9D8B030D-6E8A-4147-A177-3AD203B41FA5}">
                      <a16:colId xmlns:a16="http://schemas.microsoft.com/office/drawing/2014/main" val="1132932271"/>
                    </a:ext>
                  </a:extLst>
                </a:gridCol>
                <a:gridCol w="1875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678">
                <a:tc>
                  <a:txBody>
                    <a:bodyPr/>
                    <a:lstStyle/>
                    <a:p>
                      <a:r>
                        <a:rPr kumimoji="0" 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venir Next World" panose="020B0503020202020204" pitchFamily="34" charset="0"/>
                          <a:ea typeface="+mn-ea"/>
                          <a:cs typeface="Avenir Next World" panose="020B0503020202020204" pitchFamily="34" charset="0"/>
                        </a:rPr>
                        <a:t>Title &amp; Daisy ID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venir Next World" panose="020B0503020202020204" pitchFamily="34" charset="0"/>
                          <a:ea typeface="+mn-ea"/>
                          <a:cs typeface="Avenir Next World" panose="020B0503020202020204" pitchFamily="34" charset="0"/>
                        </a:rPr>
                        <a:t>: </a:t>
                      </a:r>
                      <a:endParaRPr lang="en-US" sz="1200" b="0" dirty="0">
                        <a:solidFill>
                          <a:schemeClr val="tx2">
                            <a:lumMod val="50000"/>
                          </a:schemeClr>
                        </a:solidFill>
                        <a:latin typeface="Avenir Next World" panose="020B0503020202020204" pitchFamily="34" charset="0"/>
                        <a:cs typeface="Avenir Next World" panose="020B0503020202020204" pitchFamily="34" charset="0"/>
                      </a:endParaRPr>
                    </a:p>
                  </a:txBody>
                  <a:tcPr marL="75303" marR="75303" marT="37350" marB="37350" anchor="b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208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venir Next World" panose="020B0503020202020204" pitchFamily="34" charset="0"/>
                          <a:ea typeface="ヒラギノ角ゴ Pro W3" pitchFamily="28" charset="-128"/>
                          <a:cs typeface="Avenir Next World" panose="020B0503020202020204" pitchFamily="34" charset="0"/>
                        </a:rPr>
                        <a:t>Owner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venir Next World" panose="020B0503020202020204" pitchFamily="34" charset="0"/>
                          <a:ea typeface="ヒラギノ角ゴ Pro W3" pitchFamily="28" charset="-128"/>
                          <a:cs typeface="Avenir Next World" panose="020B0503020202020204" pitchFamily="34" charset="0"/>
                        </a:rPr>
                        <a:t>: </a:t>
                      </a:r>
                    </a:p>
                  </a:txBody>
                  <a:tcPr marL="75303" marR="75303" marT="37350" marB="37350" anchor="b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146208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venir Next World" panose="020B0503020202020204" pitchFamily="34" charset="0"/>
                          <a:ea typeface="ヒラギノ角ゴ Pro W3" pitchFamily="28" charset="-128"/>
                          <a:cs typeface="Avenir Next World" panose="020B0503020202020204" pitchFamily="34" charset="0"/>
                        </a:rPr>
                        <a:t>Champion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venir Next World" panose="020B0503020202020204" pitchFamily="34" charset="0"/>
                          <a:ea typeface="ヒラギノ角ゴ Pro W3" pitchFamily="28" charset="-128"/>
                          <a:cs typeface="Avenir Next World" panose="020B0503020202020204" pitchFamily="34" charset="0"/>
                        </a:rPr>
                        <a:t>: </a:t>
                      </a:r>
                    </a:p>
                  </a:txBody>
                  <a:tcPr marL="75303" marR="75303" marT="37350" marB="37350" anchor="b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46208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E37F1C"/>
                        </a:solidFill>
                        <a:effectLst/>
                        <a:uLnTx/>
                        <a:uFillTx/>
                        <a:latin typeface="Calibri" pitchFamily="34" charset="0"/>
                        <a:ea typeface="ヒラギノ角ゴ Pro W3" pitchFamily="28" charset="-128"/>
                        <a:cs typeface="+mn-cs"/>
                      </a:endParaRPr>
                    </a:p>
                  </a:txBody>
                  <a:tcPr marL="90364" marR="90364" marT="44820" marB="44820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6208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venir Next World" panose="020B0503020202020204" pitchFamily="34" charset="0"/>
                          <a:ea typeface="ヒラギノ角ゴ Pro W3" pitchFamily="28" charset="-128"/>
                          <a:cs typeface="Avenir Next World" panose="020B0503020202020204" pitchFamily="34" charset="0"/>
                        </a:rPr>
                        <a:t>Date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venir Next World" panose="020B0503020202020204" pitchFamily="34" charset="0"/>
                          <a:ea typeface="ヒラギノ角ゴ Pro W3" pitchFamily="28" charset="-128"/>
                          <a:cs typeface="Avenir Next World" panose="020B0503020202020204" pitchFamily="34" charset="0"/>
                        </a:rPr>
                        <a:t>: </a:t>
                      </a:r>
                    </a:p>
                  </a:txBody>
                  <a:tcPr marL="75303" marR="75303" marT="37350" marB="37350" anchor="b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678">
                <a:tc gridSpan="3">
                  <a:txBody>
                    <a:bodyPr/>
                    <a:lstStyle/>
                    <a:p>
                      <a:pPr marL="0" marR="0" lvl="0" indent="0" algn="l" defTabSz="146208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venir Next World" panose="020B0503020202020204" pitchFamily="34" charset="0"/>
                          <a:ea typeface="ヒラギノ角ゴ Pro W3" pitchFamily="28" charset="-128"/>
                          <a:cs typeface="Avenir Next World" panose="020B0503020202020204" pitchFamily="34" charset="0"/>
                        </a:rPr>
                        <a:t>Team Members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venir Next World" panose="020B0503020202020204" pitchFamily="34" charset="0"/>
                          <a:ea typeface="ヒラギノ角ゴ Pro W3" pitchFamily="28" charset="-128"/>
                          <a:cs typeface="Avenir Next World" panose="020B0503020202020204" pitchFamily="34" charset="0"/>
                        </a:rPr>
                        <a:t>: </a:t>
                      </a:r>
                    </a:p>
                  </a:txBody>
                  <a:tcPr marL="75303" marR="75303" marT="37350" marB="37350" anchor="b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46208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ヒラギノ角ゴ Pro W3" pitchFamily="28" charset="-128"/>
                          <a:cs typeface="+mn-cs"/>
                        </a:rPr>
                        <a:t>Team Members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ヒラギノ角ゴ Pro W3" pitchFamily="28" charset="-128"/>
                          <a:cs typeface="+mn-cs"/>
                        </a:rPr>
                        <a:t>: </a:t>
                      </a:r>
                    </a:p>
                  </a:txBody>
                  <a:tcPr marL="90364" marR="90364" marT="44820" marB="44820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46208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Calibri" pitchFamily="34" charset="0"/>
                        <a:ea typeface="ヒラギノ角ゴ Pro W3" pitchFamily="28" charset="-128"/>
                        <a:cs typeface="+mn-cs"/>
                      </a:endParaRPr>
                    </a:p>
                  </a:txBody>
                  <a:tcPr marL="90364" marR="90364" marT="44820" marB="44820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146208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venir Next World" panose="020B0503020202020204" pitchFamily="34" charset="0"/>
                          <a:ea typeface="ヒラギノ角ゴ Pro W3" pitchFamily="28" charset="-128"/>
                          <a:cs typeface="Avenir Next World" panose="020B0503020202020204" pitchFamily="34" charset="0"/>
                        </a:rPr>
                        <a:t>Coach &amp; MBB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Avenir Next World" panose="020B0503020202020204" pitchFamily="34" charset="0"/>
                          <a:ea typeface="ヒラギノ角ゴ Pro W3" pitchFamily="28" charset="-128"/>
                          <a:cs typeface="Avenir Next World" panose="020B0503020202020204" pitchFamily="34" charset="0"/>
                        </a:rPr>
                        <a:t>: </a:t>
                      </a:r>
                      <a:endParaRPr lang="en-US" sz="1200" b="0" dirty="0">
                        <a:solidFill>
                          <a:schemeClr val="tx2">
                            <a:lumMod val="50000"/>
                          </a:schemeClr>
                        </a:solidFill>
                        <a:latin typeface="Avenir Next World" panose="020B0503020202020204" pitchFamily="34" charset="0"/>
                        <a:cs typeface="Avenir Next World" panose="020B0503020202020204" pitchFamily="34" charset="0"/>
                      </a:endParaRPr>
                    </a:p>
                  </a:txBody>
                  <a:tcPr marL="75303" marR="75303" marT="37350" marB="37350" anchor="b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dirty="0">
                        <a:solidFill>
                          <a:srgbClr val="E37F1C"/>
                        </a:solidFill>
                      </a:endParaRPr>
                    </a:p>
                  </a:txBody>
                  <a:tcPr marL="90364" marR="90364" marT="44880" marB="44880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6" name="Group 35">
            <a:extLst>
              <a:ext uri="{FF2B5EF4-FFF2-40B4-BE49-F238E27FC236}">
                <a16:creationId xmlns:a16="http://schemas.microsoft.com/office/drawing/2014/main" id="{984B2298-EB16-407C-B130-730FE8682FD7}"/>
              </a:ext>
            </a:extLst>
          </p:cNvPr>
          <p:cNvGrpSpPr/>
          <p:nvPr/>
        </p:nvGrpSpPr>
        <p:grpSpPr>
          <a:xfrm>
            <a:off x="83205" y="670125"/>
            <a:ext cx="5943601" cy="2758875"/>
            <a:chOff x="99846" y="804150"/>
            <a:chExt cx="7132321" cy="331065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766F57E-D567-43FC-B5D0-FB219FC90F34}"/>
                </a:ext>
              </a:extLst>
            </p:cNvPr>
            <p:cNvSpPr/>
            <p:nvPr/>
          </p:nvSpPr>
          <p:spPr>
            <a:xfrm>
              <a:off x="99847" y="804150"/>
              <a:ext cx="7132320" cy="288926"/>
            </a:xfrm>
            <a:prstGeom prst="rect">
              <a:avLst/>
            </a:prstGeom>
            <a:solidFill>
              <a:srgbClr val="171AE8"/>
            </a:solidFill>
            <a:ln w="38100">
              <a:solidFill>
                <a:srgbClr val="171A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167" b="1" dirty="0">
                  <a:solidFill>
                    <a:srgbClr val="F5F5F5"/>
                  </a:solidFill>
                  <a:latin typeface="Avenir Next World" panose="020B0503020202020204" pitchFamily="34" charset="0"/>
                  <a:cs typeface="Avenir Next World" panose="020B0503020202020204" pitchFamily="34" charset="0"/>
                </a:rPr>
                <a:t>DEFINE: Describe the Problem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7B8CD0F-6CAC-40CB-9FFA-49F64DD20E32}"/>
                </a:ext>
              </a:extLst>
            </p:cNvPr>
            <p:cNvSpPr/>
            <p:nvPr/>
          </p:nvSpPr>
          <p:spPr>
            <a:xfrm>
              <a:off x="99846" y="1093075"/>
              <a:ext cx="7132319" cy="3021725"/>
            </a:xfrm>
            <a:prstGeom prst="rect">
              <a:avLst/>
            </a:prstGeom>
            <a:noFill/>
            <a:ln w="381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defTabSz="761970" fontAlgn="base">
                <a:spcBef>
                  <a:spcPts val="333"/>
                </a:spcBef>
                <a:spcAft>
                  <a:spcPct val="0"/>
                </a:spcAft>
              </a:pPr>
              <a:r>
                <a:rPr lang="en-US" altLang="en-US" sz="1167" dirty="0">
                  <a:solidFill>
                    <a:schemeClr val="tx2">
                      <a:lumMod val="50000"/>
                    </a:schemeClr>
                  </a:solidFill>
                  <a:ea typeface="ヒラギノ角ゴ Pro W3"/>
                  <a:cs typeface="ヒラギノ角ゴ Pro W3"/>
                </a:rPr>
                <a:t>Problem Statement:</a:t>
              </a:r>
            </a:p>
            <a:p>
              <a:pPr defTabSz="761970" fontAlgn="base">
                <a:spcBef>
                  <a:spcPts val="333"/>
                </a:spcBef>
                <a:spcAft>
                  <a:spcPct val="0"/>
                </a:spcAft>
                <a:buFont typeface="Wingdings" panose="05000000000000000000" pitchFamily="2" charset="2"/>
                <a:buChar char="q"/>
              </a:pPr>
              <a:r>
                <a:rPr lang="en-US" alt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/>
                  <a:cs typeface="ヒラギノ角ゴ Pro W3"/>
                </a:rPr>
                <a:t> What problem needs to be solved?</a:t>
              </a:r>
              <a:r>
                <a:rPr lang="en-US" altLang="en-US" sz="833" b="1" i="1" dirty="0">
                  <a:solidFill>
                    <a:schemeClr val="tx2">
                      <a:lumMod val="50000"/>
                    </a:schemeClr>
                  </a:solidFill>
                  <a:ea typeface="ヒラギノ角ゴ Pro W3"/>
                  <a:cs typeface="ヒラギノ角ゴ Pro W3"/>
                </a:rPr>
                <a:t> </a:t>
              </a:r>
            </a:p>
            <a:p>
              <a:pPr defTabSz="761970" fontAlgn="base">
                <a:spcBef>
                  <a:spcPts val="333"/>
                </a:spcBef>
                <a:spcAft>
                  <a:spcPct val="0"/>
                </a:spcAft>
                <a:buFont typeface="Wingdings" panose="05000000000000000000" pitchFamily="2" charset="2"/>
                <a:buChar char="q"/>
              </a:pPr>
              <a:r>
                <a:rPr lang="en-US" alt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/>
                  <a:cs typeface="ヒラギノ角ゴ Pro W3"/>
                </a:rPr>
                <a:t> What is the pain to you, the business, the customer?</a:t>
              </a:r>
            </a:p>
            <a:p>
              <a:pPr defTabSz="761970" fontAlgn="base">
                <a:spcBef>
                  <a:spcPts val="333"/>
                </a:spcBef>
                <a:spcAft>
                  <a:spcPct val="0"/>
                </a:spcAft>
                <a:buFont typeface="Wingdings" panose="05000000000000000000" pitchFamily="2" charset="2"/>
                <a:buChar char="q"/>
              </a:pPr>
              <a:r>
                <a:rPr lang="en-US" alt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/>
                  <a:cs typeface="ヒラギノ角ゴ Pro W3"/>
                </a:rPr>
                <a:t> What process output  / Project Y (e.g.. </a:t>
              </a:r>
              <a:r>
                <a:rPr lang="en-US" altLang="en-US" sz="833" dirty="0" err="1">
                  <a:solidFill>
                    <a:schemeClr val="tx2">
                      <a:lumMod val="50000"/>
                    </a:schemeClr>
                  </a:solidFill>
                  <a:ea typeface="ヒラギノ角ゴ Pro W3"/>
                  <a:cs typeface="ヒラギノ角ゴ Pro W3"/>
                </a:rPr>
                <a:t>leadtime</a:t>
              </a:r>
              <a:r>
                <a:rPr lang="en-US" alt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/>
                  <a:cs typeface="ヒラギノ角ゴ Pro W3"/>
                </a:rPr>
                <a:t>, error rates,  client satisfaction) reflects the problem?</a:t>
              </a:r>
            </a:p>
            <a:p>
              <a:pPr defTabSz="761970" fontAlgn="base">
                <a:spcBef>
                  <a:spcPts val="333"/>
                </a:spcBef>
                <a:spcAft>
                  <a:spcPct val="0"/>
                </a:spcAft>
                <a:buFont typeface="Wingdings" panose="05000000000000000000" pitchFamily="2" charset="2"/>
                <a:buChar char="q"/>
              </a:pPr>
              <a:r>
                <a:rPr lang="en-US" alt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/>
                  <a:cs typeface="ヒラギノ角ゴ Pro W3"/>
                </a:rPr>
                <a:t> How does this align with Business Strategy (Policy Deployment)?</a:t>
              </a:r>
            </a:p>
            <a:p>
              <a:pPr defTabSz="761970" fontAlgn="base">
                <a:spcBef>
                  <a:spcPts val="333"/>
                </a:spcBef>
                <a:spcAft>
                  <a:spcPct val="0"/>
                </a:spcAft>
                <a:buFont typeface="Wingdings" panose="05000000000000000000" pitchFamily="2" charset="2"/>
                <a:buChar char="q"/>
              </a:pPr>
              <a:endParaRPr lang="en-US" altLang="en-US" sz="833" dirty="0">
                <a:solidFill>
                  <a:schemeClr val="tx2">
                    <a:lumMod val="50000"/>
                  </a:schemeClr>
                </a:solidFill>
                <a:ea typeface="ヒラギノ角ゴ Pro W3"/>
                <a:cs typeface="ヒラギノ角ゴ Pro W3"/>
              </a:endParaRPr>
            </a:p>
            <a:p>
              <a:pPr defTabSz="761970" fontAlgn="base">
                <a:spcBef>
                  <a:spcPts val="333"/>
                </a:spcBef>
                <a:spcAft>
                  <a:spcPct val="0"/>
                </a:spcAft>
              </a:pPr>
              <a:r>
                <a:rPr lang="en-US" altLang="en-US" sz="1167" dirty="0">
                  <a:solidFill>
                    <a:schemeClr val="tx2">
                      <a:lumMod val="50000"/>
                    </a:schemeClr>
                  </a:solidFill>
                  <a:ea typeface="ヒラギノ角ゴ Pro W3"/>
                  <a:cs typeface="ヒラギノ角ゴ Pro W3"/>
                </a:rPr>
                <a:t>Scope:</a:t>
              </a:r>
            </a:p>
            <a:p>
              <a:pPr defTabSz="761970" fontAlgn="base">
                <a:spcBef>
                  <a:spcPts val="333"/>
                </a:spcBef>
                <a:spcAft>
                  <a:spcPct val="0"/>
                </a:spcAft>
                <a:buFont typeface="Wingdings" panose="05000000000000000000" pitchFamily="2" charset="2"/>
                <a:buChar char="q"/>
              </a:pPr>
              <a:r>
                <a:rPr lang="en-US" alt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/>
                  <a:cs typeface="ヒラギノ角ゴ Pro W3"/>
                </a:rPr>
                <a:t> What would the scope include?</a:t>
              </a:r>
            </a:p>
            <a:p>
              <a:pPr defTabSz="761970" fontAlgn="base">
                <a:spcBef>
                  <a:spcPts val="333"/>
                </a:spcBef>
                <a:spcAft>
                  <a:spcPct val="0"/>
                </a:spcAft>
                <a:buFont typeface="Wingdings" panose="05000000000000000000" pitchFamily="2" charset="2"/>
                <a:buChar char="q"/>
              </a:pPr>
              <a:r>
                <a:rPr lang="en-US" alt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/>
                  <a:cs typeface="ヒラギノ角ゴ Pro W3"/>
                </a:rPr>
                <a:t> What would the scope exclude?</a:t>
              </a:r>
            </a:p>
            <a:p>
              <a:pPr defTabSz="761970" fontAlgn="base">
                <a:spcBef>
                  <a:spcPts val="333"/>
                </a:spcBef>
                <a:spcAft>
                  <a:spcPct val="0"/>
                </a:spcAft>
                <a:buFont typeface="Wingdings" panose="05000000000000000000" pitchFamily="2" charset="2"/>
                <a:buChar char="q"/>
              </a:pPr>
              <a:r>
                <a:rPr lang="en-US" alt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/>
                  <a:cs typeface="ヒラギノ角ゴ Pro W3"/>
                </a:rPr>
                <a:t> What factors are “do no harm”? </a:t>
              </a:r>
            </a:p>
            <a:p>
              <a:pPr defTabSz="761970" fontAlgn="base">
                <a:spcBef>
                  <a:spcPts val="333"/>
                </a:spcBef>
                <a:spcAft>
                  <a:spcPct val="0"/>
                </a:spcAft>
                <a:buFont typeface="Wingdings" panose="05000000000000000000" pitchFamily="2" charset="2"/>
                <a:buChar char="q"/>
              </a:pPr>
              <a:endParaRPr lang="en-US" altLang="en-US" sz="833" dirty="0">
                <a:solidFill>
                  <a:schemeClr val="tx2">
                    <a:lumMod val="50000"/>
                  </a:schemeClr>
                </a:solidFill>
                <a:ea typeface="ヒラギノ角ゴ Pro W3"/>
                <a:cs typeface="ヒラギノ角ゴ Pro W3"/>
              </a:endParaRPr>
            </a:p>
            <a:p>
              <a:pPr defTabSz="7619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167" dirty="0">
                  <a:solidFill>
                    <a:schemeClr val="tx2">
                      <a:lumMod val="50000"/>
                    </a:schemeClr>
                  </a:solidFill>
                  <a:ea typeface="ヒラギノ角ゴ Pro W3"/>
                  <a:cs typeface="ヒラギノ角ゴ Pro W3"/>
                </a:rPr>
                <a:t>Goal:</a:t>
              </a:r>
              <a:endParaRPr lang="en-US" altLang="en-US" sz="750" dirty="0">
                <a:solidFill>
                  <a:schemeClr val="tx2">
                    <a:lumMod val="50000"/>
                  </a:schemeClr>
                </a:solidFill>
                <a:ea typeface="ヒラギノ角ゴ Pro W3"/>
                <a:cs typeface="ヒラギノ角ゴ Pro W3"/>
              </a:endParaRPr>
            </a:p>
            <a:p>
              <a:pPr defTabSz="761970" fontAlgn="base">
                <a:spcBef>
                  <a:spcPts val="333"/>
                </a:spcBef>
                <a:spcAft>
                  <a:spcPct val="0"/>
                </a:spcAft>
                <a:buFont typeface="Wingdings" panose="05000000000000000000" pitchFamily="2" charset="2"/>
                <a:buChar char="q"/>
              </a:pPr>
              <a:r>
                <a:rPr lang="en-US" alt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/>
                  <a:cs typeface="ヒラギノ角ゴ Pro W3"/>
                </a:rPr>
                <a:t> Improve Y (output) from (current performance )to (target performance) by (target date).</a:t>
              </a:r>
            </a:p>
            <a:p>
              <a:pPr defTabSz="761970" fontAlgn="base">
                <a:spcBef>
                  <a:spcPts val="333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</a:pPr>
              <a:r>
                <a:rPr lang="en-US" alt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/>
                  <a:cs typeface="ヒラギノ角ゴ Pro W3"/>
                </a:rPr>
                <a:t>Is your A3 in DAISY?</a:t>
              </a:r>
            </a:p>
            <a:p>
              <a:endParaRPr lang="en-US" sz="1000" dirty="0">
                <a:solidFill>
                  <a:schemeClr val="bg2"/>
                </a:solidFill>
                <a:latin typeface="Avenir Next World" panose="020B0503020202020204" pitchFamily="34" charset="0"/>
                <a:cs typeface="Avenir Next World" panose="020B05030202020202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68B25B6-AD0E-43B7-8DC7-69D05F87A516}"/>
              </a:ext>
            </a:extLst>
          </p:cNvPr>
          <p:cNvGrpSpPr/>
          <p:nvPr/>
        </p:nvGrpSpPr>
        <p:grpSpPr>
          <a:xfrm>
            <a:off x="83204" y="3667379"/>
            <a:ext cx="5943600" cy="2454898"/>
            <a:chOff x="99845" y="4600551"/>
            <a:chExt cx="7132320" cy="294587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E508C1F-D42C-4208-A02C-0F1DB98E3953}"/>
                </a:ext>
              </a:extLst>
            </p:cNvPr>
            <p:cNvSpPr/>
            <p:nvPr/>
          </p:nvSpPr>
          <p:spPr>
            <a:xfrm>
              <a:off x="99845" y="4600551"/>
              <a:ext cx="7132320" cy="262650"/>
            </a:xfrm>
            <a:prstGeom prst="rect">
              <a:avLst/>
            </a:prstGeom>
            <a:solidFill>
              <a:srgbClr val="171AE8"/>
            </a:solidFill>
            <a:ln w="38100">
              <a:solidFill>
                <a:srgbClr val="171A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167" b="1" dirty="0">
                  <a:solidFill>
                    <a:srgbClr val="F5F5F5"/>
                  </a:solidFill>
                  <a:latin typeface="Avenir Next World" panose="020B0503020202020204" pitchFamily="34" charset="0"/>
                  <a:cs typeface="Avenir Next World" panose="020B0503020202020204" pitchFamily="34" charset="0"/>
                </a:rPr>
                <a:t>MEASURE: Identify the Current State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CFF8560-D402-467A-A07B-D0D6226CB127}"/>
                </a:ext>
              </a:extLst>
            </p:cNvPr>
            <p:cNvSpPr/>
            <p:nvPr/>
          </p:nvSpPr>
          <p:spPr>
            <a:xfrm>
              <a:off x="99846" y="4863201"/>
              <a:ext cx="7132319" cy="2683227"/>
            </a:xfrm>
            <a:prstGeom prst="rect">
              <a:avLst/>
            </a:prstGeom>
            <a:noFill/>
            <a:ln w="381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defTabSz="7619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167" dirty="0">
                  <a:solidFill>
                    <a:schemeClr val="tx2">
                      <a:lumMod val="50000"/>
                    </a:schemeClr>
                  </a:solidFill>
                  <a:ea typeface="ヒラギノ角ゴ Pro W3"/>
                  <a:cs typeface="ヒラギノ角ゴ Pro W3"/>
                </a:rPr>
                <a:t>Process Thinking:</a:t>
              </a:r>
            </a:p>
            <a:p>
              <a:pPr defTabSz="761970" fontAlgn="base">
                <a:spcBef>
                  <a:spcPts val="333"/>
                </a:spcBef>
                <a:spcAft>
                  <a:spcPct val="0"/>
                </a:spcAft>
                <a:buFont typeface="Wingdings" panose="05000000000000000000" pitchFamily="2" charset="2"/>
                <a:buChar char="q"/>
              </a:pPr>
              <a:r>
                <a:rPr lang="en-US" alt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/>
                  <a:cs typeface="ヒラギノ角ゴ Pro W3"/>
                </a:rPr>
                <a:t> What does the process look like that produces the  output?  </a:t>
              </a:r>
            </a:p>
            <a:p>
              <a:pPr defTabSz="761970" fontAlgn="base">
                <a:spcBef>
                  <a:spcPts val="333"/>
                </a:spcBef>
                <a:spcAft>
                  <a:spcPct val="0"/>
                </a:spcAft>
                <a:buFont typeface="Wingdings" panose="05000000000000000000" pitchFamily="2" charset="2"/>
                <a:buChar char="q"/>
              </a:pPr>
              <a:endParaRPr lang="en-US" altLang="en-US" sz="833" dirty="0">
                <a:solidFill>
                  <a:schemeClr val="tx2">
                    <a:lumMod val="50000"/>
                  </a:schemeClr>
                </a:solidFill>
                <a:ea typeface="ヒラギノ角ゴ Pro W3"/>
                <a:cs typeface="ヒラギノ角ゴ Pro W3"/>
              </a:endParaRPr>
            </a:p>
            <a:p>
              <a:pPr defTabSz="761970" fontAlgn="base">
                <a:spcBef>
                  <a:spcPts val="333"/>
                </a:spcBef>
                <a:spcAft>
                  <a:spcPct val="0"/>
                </a:spcAft>
              </a:pPr>
              <a:r>
                <a:rPr lang="en-US" altLang="en-US" sz="1167" dirty="0">
                  <a:solidFill>
                    <a:schemeClr val="tx2">
                      <a:lumMod val="50000"/>
                    </a:schemeClr>
                  </a:solidFill>
                  <a:ea typeface="ヒラギノ角ゴ Pro W3"/>
                  <a:cs typeface="ヒラギノ角ゴ Pro W3"/>
                </a:rPr>
                <a:t>Current Performance:</a:t>
              </a:r>
            </a:p>
            <a:p>
              <a:pPr defTabSz="761970" fontAlgn="base">
                <a:spcBef>
                  <a:spcPts val="333"/>
                </a:spcBef>
                <a:spcAft>
                  <a:spcPct val="0"/>
                </a:spcAft>
                <a:buFont typeface="Wingdings" panose="05000000000000000000" pitchFamily="2" charset="2"/>
                <a:buChar char="q"/>
              </a:pPr>
              <a:r>
                <a:rPr lang="en-US" alt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/>
                  <a:cs typeface="ヒラギノ角ゴ Pro W3"/>
                </a:rPr>
                <a:t>What is the current process performance?</a:t>
              </a:r>
            </a:p>
            <a:p>
              <a:pPr defTabSz="761970" fontAlgn="base">
                <a:spcBef>
                  <a:spcPts val="333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</a:pPr>
              <a:r>
                <a:rPr lang="en-US" alt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/>
                  <a:cs typeface="ヒラギノ角ゴ Pro W3"/>
                </a:rPr>
                <a:t>How confident are you in that measurement?</a:t>
              </a:r>
            </a:p>
            <a:p>
              <a:pPr defTabSz="761970" fontAlgn="base">
                <a:spcBef>
                  <a:spcPts val="333"/>
                </a:spcBef>
                <a:spcAft>
                  <a:spcPct val="0"/>
                </a:spcAft>
                <a:buFont typeface="Wingdings" panose="05000000000000000000" pitchFamily="2" charset="2"/>
                <a:buChar char="q"/>
              </a:pPr>
              <a:r>
                <a:rPr lang="en-US" alt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/>
                  <a:cs typeface="ヒラギノ角ゴ Pro W3"/>
                </a:rPr>
                <a:t>What is the estimated financial impact of the current problem?</a:t>
              </a:r>
            </a:p>
            <a:p>
              <a:pPr defTabSz="761970" fontAlgn="base">
                <a:spcBef>
                  <a:spcPts val="333"/>
                </a:spcBef>
                <a:spcAft>
                  <a:spcPct val="0"/>
                </a:spcAft>
                <a:buFont typeface="Wingdings" panose="05000000000000000000" pitchFamily="2" charset="2"/>
                <a:buChar char="q"/>
              </a:pPr>
              <a:endParaRPr lang="en-US" altLang="en-US" sz="833" dirty="0">
                <a:solidFill>
                  <a:schemeClr val="tx2">
                    <a:lumMod val="50000"/>
                  </a:schemeClr>
                </a:solidFill>
                <a:ea typeface="ヒラギノ角ゴ Pro W3"/>
                <a:cs typeface="ヒラギノ角ゴ Pro W3"/>
              </a:endParaRPr>
            </a:p>
            <a:p>
              <a:pPr defTabSz="7619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167" dirty="0">
                  <a:solidFill>
                    <a:schemeClr val="tx2">
                      <a:lumMod val="50000"/>
                    </a:schemeClr>
                  </a:solidFill>
                  <a:ea typeface="ヒラギノ角ゴ Pro W3"/>
                  <a:cs typeface="ヒラギノ角ゴ Pro W3"/>
                </a:rPr>
                <a:t>Likely Suspects:</a:t>
              </a:r>
            </a:p>
            <a:p>
              <a:pPr defTabSz="761970" fontAlgn="base">
                <a:spcBef>
                  <a:spcPts val="333"/>
                </a:spcBef>
                <a:spcAft>
                  <a:spcPct val="0"/>
                </a:spcAft>
                <a:buFont typeface="Wingdings" panose="05000000000000000000" pitchFamily="2" charset="2"/>
                <a:buChar char="q"/>
              </a:pPr>
              <a:r>
                <a:rPr lang="en-US" alt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/>
                  <a:cs typeface="ヒラギノ角ゴ Pro W3"/>
                </a:rPr>
                <a:t> What are all the potential process inputs  that might impact the output? </a:t>
              </a:r>
            </a:p>
            <a:p>
              <a:pPr defTabSz="761970" fontAlgn="base">
                <a:spcBef>
                  <a:spcPts val="333"/>
                </a:spcBef>
                <a:spcAft>
                  <a:spcPct val="0"/>
                </a:spcAft>
                <a:buFont typeface="Wingdings" panose="05000000000000000000" pitchFamily="2" charset="2"/>
                <a:buChar char="q"/>
              </a:pPr>
              <a:r>
                <a:rPr lang="en-US" alt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/>
                  <a:cs typeface="ヒラギノ角ゴ Pro W3"/>
                </a:rPr>
                <a:t> Which of the inputs are the suspects that you need to analyze further?</a:t>
              </a:r>
            </a:p>
            <a:p>
              <a:pPr defTabSz="761970" fontAlgn="base">
                <a:spcBef>
                  <a:spcPts val="333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</a:pPr>
              <a:r>
                <a:rPr lang="en-US" alt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/>
                  <a:cs typeface="ヒラギノ角ゴ Pro W3"/>
                </a:rPr>
                <a:t>How were the suspects identified and prioritized?</a:t>
              </a:r>
              <a:endParaRPr lang="en-US" altLang="en-US" sz="833" b="1" dirty="0">
                <a:solidFill>
                  <a:schemeClr val="tx2">
                    <a:lumMod val="50000"/>
                  </a:schemeClr>
                </a:solidFill>
                <a:ea typeface="ヒラギノ角ゴ Pro W3"/>
                <a:cs typeface="ヒラギノ角ゴ Pro W3"/>
              </a:endParaRPr>
            </a:p>
            <a:p>
              <a:endParaRPr lang="en-US" sz="750" dirty="0">
                <a:solidFill>
                  <a:schemeClr val="bg2"/>
                </a:solidFill>
                <a:latin typeface="Avenir Next World" panose="020B0503020202020204" pitchFamily="34" charset="0"/>
                <a:cs typeface="Avenir Next World" panose="020B0503020202020204" pitchFamily="34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12CAD30-F159-415D-A2EF-F7446FC31616}"/>
              </a:ext>
            </a:extLst>
          </p:cNvPr>
          <p:cNvGrpSpPr/>
          <p:nvPr/>
        </p:nvGrpSpPr>
        <p:grpSpPr>
          <a:xfrm>
            <a:off x="6164861" y="670125"/>
            <a:ext cx="5943934" cy="853875"/>
            <a:chOff x="7397832" y="804150"/>
            <a:chExt cx="7132721" cy="102465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B048339-5E89-4CE4-BAF7-553D05D49E55}"/>
                </a:ext>
              </a:extLst>
            </p:cNvPr>
            <p:cNvSpPr/>
            <p:nvPr/>
          </p:nvSpPr>
          <p:spPr>
            <a:xfrm>
              <a:off x="7398233" y="804150"/>
              <a:ext cx="7132320" cy="288926"/>
            </a:xfrm>
            <a:prstGeom prst="rect">
              <a:avLst/>
            </a:prstGeom>
            <a:solidFill>
              <a:srgbClr val="171AE8"/>
            </a:solidFill>
            <a:ln w="38100">
              <a:solidFill>
                <a:srgbClr val="171A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167" b="1" dirty="0">
                  <a:solidFill>
                    <a:srgbClr val="F5F5F5"/>
                  </a:solidFill>
                  <a:latin typeface="Avenir Next World" panose="020B0503020202020204" pitchFamily="34" charset="0"/>
                  <a:cs typeface="Avenir Next World" panose="020B0503020202020204" pitchFamily="34" charset="0"/>
                </a:rPr>
                <a:t>ANALYZE: Find the Root Cause(s)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A512520-6B20-4EA0-B6DD-E6BB5F393293}"/>
                </a:ext>
              </a:extLst>
            </p:cNvPr>
            <p:cNvSpPr/>
            <p:nvPr/>
          </p:nvSpPr>
          <p:spPr>
            <a:xfrm>
              <a:off x="7397832" y="1124608"/>
              <a:ext cx="7132319" cy="704192"/>
            </a:xfrm>
            <a:prstGeom prst="rect">
              <a:avLst/>
            </a:prstGeom>
            <a:noFill/>
            <a:ln w="381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defTabSz="761970" fontAlgn="base">
                <a:spcBef>
                  <a:spcPts val="333"/>
                </a:spcBef>
                <a:defRPr/>
              </a:pPr>
              <a:r>
                <a:rPr lang="en-US" sz="1083" dirty="0">
                  <a:solidFill>
                    <a:schemeClr val="tx2">
                      <a:lumMod val="50000"/>
                    </a:schemeClr>
                  </a:solidFill>
                  <a:ea typeface="ヒラギノ角ゴ Pro W3" pitchFamily="28" charset="-128"/>
                </a:rPr>
                <a:t>Key Inputs</a:t>
              </a:r>
              <a:r>
                <a:rPr lang="en-US" sz="1083" dirty="0">
                  <a:solidFill>
                    <a:schemeClr val="tx2">
                      <a:lumMod val="50000"/>
                    </a:schemeClr>
                  </a:solidFill>
                </a:rPr>
                <a:t>:</a:t>
              </a:r>
            </a:p>
            <a:p>
              <a:pPr defTabSz="761970" fontAlgn="base">
                <a:spcBef>
                  <a:spcPts val="333"/>
                </a:spcBef>
                <a:buFont typeface="Wingdings" pitchFamily="2" charset="2"/>
                <a:buChar char="q"/>
                <a:defRPr/>
              </a:pPr>
              <a:r>
                <a:rPr 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 pitchFamily="28" charset="-128"/>
                </a:rPr>
                <a:t> Which of the suspected inputs were confirmed to impact the output? </a:t>
              </a:r>
            </a:p>
            <a:p>
              <a:pPr marL="142869" indent="-142869" defTabSz="761970" fontAlgn="base">
                <a:spcBef>
                  <a:spcPts val="333"/>
                </a:spcBef>
                <a:buFont typeface="Wingdings" pitchFamily="2" charset="2"/>
                <a:buChar char="ü"/>
                <a:defRPr/>
              </a:pPr>
              <a:r>
                <a:rPr 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 pitchFamily="28" charset="-128"/>
                </a:rPr>
                <a:t>What evidence was used to determine that impact?</a:t>
              </a:r>
              <a:endParaRPr lang="en-US" sz="833" i="1" dirty="0">
                <a:solidFill>
                  <a:schemeClr val="tx2">
                    <a:lumMod val="50000"/>
                  </a:schemeClr>
                </a:solidFill>
                <a:ea typeface="ヒラギノ角ゴ Pro W3" pitchFamily="28" charset="-128"/>
              </a:endParaRPr>
            </a:p>
            <a:p>
              <a:pPr defTabSz="761970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833" dirty="0">
                <a:solidFill>
                  <a:schemeClr val="tx2">
                    <a:lumMod val="50000"/>
                  </a:schemeClr>
                </a:solidFill>
                <a:ea typeface="ヒラギノ角ゴ Pro W3"/>
                <a:cs typeface="ヒラギノ角ゴ Pro W3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021FBCC-F633-43D0-A9C2-2602C405D02F}"/>
              </a:ext>
            </a:extLst>
          </p:cNvPr>
          <p:cNvGrpSpPr/>
          <p:nvPr/>
        </p:nvGrpSpPr>
        <p:grpSpPr>
          <a:xfrm>
            <a:off x="6164859" y="1753309"/>
            <a:ext cx="5943600" cy="2034747"/>
            <a:chOff x="7397832" y="3970337"/>
            <a:chExt cx="7132320" cy="2441696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8D84D1E-670B-4E5B-BC18-B749581FDA8F}"/>
                </a:ext>
              </a:extLst>
            </p:cNvPr>
            <p:cNvSpPr/>
            <p:nvPr/>
          </p:nvSpPr>
          <p:spPr>
            <a:xfrm>
              <a:off x="7397832" y="3970337"/>
              <a:ext cx="7132320" cy="288926"/>
            </a:xfrm>
            <a:prstGeom prst="rect">
              <a:avLst/>
            </a:prstGeom>
            <a:solidFill>
              <a:srgbClr val="171AE8"/>
            </a:solidFill>
            <a:ln w="38100">
              <a:solidFill>
                <a:srgbClr val="171A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167" b="1" dirty="0">
                  <a:solidFill>
                    <a:srgbClr val="F5F5F5"/>
                  </a:solidFill>
                  <a:latin typeface="Avenir Next World" panose="020B0503020202020204" pitchFamily="34" charset="0"/>
                  <a:cs typeface="Avenir Next World" panose="020B0503020202020204" pitchFamily="34" charset="0"/>
                </a:rPr>
                <a:t>IMPROVE: Optimize and Act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1AA9AE9-EA8B-4BA0-84A0-B00CDB0D39D1}"/>
                </a:ext>
              </a:extLst>
            </p:cNvPr>
            <p:cNvSpPr/>
            <p:nvPr/>
          </p:nvSpPr>
          <p:spPr>
            <a:xfrm>
              <a:off x="7397832" y="4278688"/>
              <a:ext cx="7132319" cy="2133345"/>
            </a:xfrm>
            <a:prstGeom prst="rect">
              <a:avLst/>
            </a:prstGeom>
            <a:noFill/>
            <a:ln w="381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defTabSz="761970">
                <a:defRPr/>
              </a:pPr>
              <a:r>
                <a:rPr lang="en-US" sz="1083" dirty="0">
                  <a:solidFill>
                    <a:schemeClr val="tx2">
                      <a:lumMod val="50000"/>
                    </a:schemeClr>
                  </a:solidFill>
                </a:rPr>
                <a:t>Improvements:</a:t>
              </a:r>
            </a:p>
            <a:p>
              <a:pPr defTabSz="761970" fontAlgn="base">
                <a:spcBef>
                  <a:spcPts val="333"/>
                </a:spcBef>
                <a:buFont typeface="Wingdings" pitchFamily="2" charset="2"/>
                <a:buChar char="q"/>
                <a:defRPr/>
              </a:pPr>
              <a:r>
                <a:rPr 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 pitchFamily="28" charset="-128"/>
                </a:rPr>
                <a:t> What are the best countermeasures for the key inputs?</a:t>
              </a:r>
            </a:p>
            <a:p>
              <a:pPr marL="142869" indent="-142869" defTabSz="761970" fontAlgn="base">
                <a:spcBef>
                  <a:spcPts val="333"/>
                </a:spcBef>
                <a:buFont typeface="Wingdings" pitchFamily="2" charset="2"/>
                <a:buChar char="ü"/>
                <a:defRPr/>
              </a:pPr>
              <a:r>
                <a:rPr 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 pitchFamily="28" charset="-128"/>
                </a:rPr>
                <a:t>What experiments/evaluations have you done  for </a:t>
              </a:r>
            </a:p>
            <a:p>
              <a:pPr defTabSz="761970" fontAlgn="base">
                <a:spcBef>
                  <a:spcPts val="333"/>
                </a:spcBef>
                <a:defRPr/>
              </a:pPr>
              <a:r>
                <a:rPr 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 pitchFamily="28" charset="-128"/>
                </a:rPr>
                <a:t>   those countermeasures?</a:t>
              </a:r>
            </a:p>
            <a:p>
              <a:pPr defTabSz="761970" fontAlgn="base">
                <a:spcBef>
                  <a:spcPts val="333"/>
                </a:spcBef>
                <a:buFont typeface="Wingdings" pitchFamily="2" charset="2"/>
                <a:buChar char="q"/>
                <a:defRPr/>
              </a:pPr>
              <a:r>
                <a:rPr 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 pitchFamily="28" charset="-128"/>
                </a:rPr>
                <a:t> How were countermeasures optimized? </a:t>
              </a:r>
            </a:p>
            <a:p>
              <a:pPr marL="142869" indent="-142869" defTabSz="761970" fontAlgn="base">
                <a:spcBef>
                  <a:spcPts val="333"/>
                </a:spcBef>
                <a:buFont typeface="Wingdings" pitchFamily="2" charset="2"/>
                <a:buChar char="ü"/>
                <a:defRPr/>
              </a:pPr>
              <a:r>
                <a:rPr 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 pitchFamily="28" charset="-128"/>
                </a:rPr>
                <a:t>Are they aligned to MOS principles?</a:t>
              </a:r>
            </a:p>
            <a:p>
              <a:pPr marL="142869" indent="-142869" defTabSz="761970" fontAlgn="base">
                <a:spcBef>
                  <a:spcPts val="333"/>
                </a:spcBef>
                <a:buFont typeface="Wingdings" pitchFamily="2" charset="2"/>
                <a:buChar char="q"/>
                <a:defRPr/>
              </a:pPr>
              <a:r>
                <a:rPr 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 charset="-128"/>
                </a:rPr>
                <a:t>What is the future state process?  </a:t>
              </a:r>
            </a:p>
            <a:p>
              <a:pPr marL="142869" indent="-142869" defTabSz="761970" fontAlgn="base">
                <a:spcBef>
                  <a:spcPts val="333"/>
                </a:spcBef>
                <a:buFont typeface="Wingdings" pitchFamily="2" charset="2"/>
                <a:buChar char="q"/>
                <a:defRPr/>
              </a:pPr>
              <a:endParaRPr lang="en-US" sz="833" dirty="0">
                <a:solidFill>
                  <a:schemeClr val="tx2">
                    <a:lumMod val="50000"/>
                  </a:schemeClr>
                </a:solidFill>
                <a:ea typeface="ヒラギノ角ゴ Pro W3" charset="-128"/>
              </a:endParaRPr>
            </a:p>
            <a:p>
              <a:pPr defTabSz="761970">
                <a:defRPr/>
              </a:pPr>
              <a:r>
                <a:rPr lang="en-US" sz="1083" dirty="0">
                  <a:solidFill>
                    <a:schemeClr val="tx2">
                      <a:lumMod val="50000"/>
                    </a:schemeClr>
                  </a:solidFill>
                </a:rPr>
                <a:t>Implementation Plan:</a:t>
              </a:r>
            </a:p>
            <a:p>
              <a:pPr defTabSz="761970" fontAlgn="base">
                <a:spcBef>
                  <a:spcPts val="333"/>
                </a:spcBef>
                <a:buFont typeface="Wingdings" pitchFamily="2" charset="2"/>
                <a:buChar char="q"/>
                <a:defRPr/>
              </a:pPr>
              <a:r>
                <a:rPr 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 pitchFamily="28" charset="-128"/>
                </a:rPr>
                <a:t> How will the changes be implemented?</a:t>
              </a:r>
            </a:p>
            <a:p>
              <a:pPr defTabSz="761970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833" dirty="0">
                <a:solidFill>
                  <a:schemeClr val="tx2">
                    <a:lumMod val="50000"/>
                  </a:schemeClr>
                </a:solidFill>
                <a:ea typeface="ヒラギノ角ゴ Pro W3"/>
                <a:cs typeface="ヒラギノ角ゴ Pro W3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6C6362B-42E7-48DB-896A-91149F524462}"/>
              </a:ext>
            </a:extLst>
          </p:cNvPr>
          <p:cNvGrpSpPr/>
          <p:nvPr/>
        </p:nvGrpSpPr>
        <p:grpSpPr>
          <a:xfrm>
            <a:off x="6164858" y="4036396"/>
            <a:ext cx="5943600" cy="1715444"/>
            <a:chOff x="7397831" y="6202597"/>
            <a:chExt cx="7132320" cy="205853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53A3E17-8207-4F25-BB3A-411CC15F4258}"/>
                </a:ext>
              </a:extLst>
            </p:cNvPr>
            <p:cNvSpPr/>
            <p:nvPr/>
          </p:nvSpPr>
          <p:spPr>
            <a:xfrm>
              <a:off x="7397831" y="6202597"/>
              <a:ext cx="7132320" cy="288926"/>
            </a:xfrm>
            <a:prstGeom prst="rect">
              <a:avLst/>
            </a:prstGeom>
            <a:solidFill>
              <a:srgbClr val="171AE8"/>
            </a:solidFill>
            <a:ln w="38100">
              <a:solidFill>
                <a:srgbClr val="171A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sz="1167" b="1" dirty="0">
                  <a:solidFill>
                    <a:srgbClr val="F5F5F5"/>
                  </a:solidFill>
                  <a:latin typeface="Avenir Next World" panose="020B0503020202020204" pitchFamily="34" charset="0"/>
                  <a:cs typeface="Avenir Next World" panose="020B0503020202020204" pitchFamily="34" charset="0"/>
                </a:rPr>
                <a:t>CONTROL: Demonstrate Improvement &amp; Sustainability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E124D97-8A2B-4641-B910-0F2554ADACE4}"/>
                </a:ext>
              </a:extLst>
            </p:cNvPr>
            <p:cNvSpPr/>
            <p:nvPr/>
          </p:nvSpPr>
          <p:spPr>
            <a:xfrm>
              <a:off x="7397831" y="6477768"/>
              <a:ext cx="7132319" cy="1783362"/>
            </a:xfrm>
            <a:prstGeom prst="rect">
              <a:avLst/>
            </a:prstGeom>
            <a:noFill/>
            <a:ln w="381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defTabSz="761970" fontAlgn="base">
                <a:spcBef>
                  <a:spcPts val="333"/>
                </a:spcBef>
                <a:spcAft>
                  <a:spcPct val="0"/>
                </a:spcAft>
                <a:defRPr/>
              </a:pPr>
              <a:r>
                <a:rPr lang="en-US" sz="1083" dirty="0">
                  <a:solidFill>
                    <a:schemeClr val="tx2">
                      <a:lumMod val="50000"/>
                    </a:schemeClr>
                  </a:solidFill>
                  <a:ea typeface="ヒラギノ角ゴ Pro W3" pitchFamily="28" charset="-128"/>
                </a:rPr>
                <a:t>Demonstrated Improvement</a:t>
              </a:r>
            </a:p>
            <a:p>
              <a:pPr defTabSz="761970" fontAlgn="base">
                <a:spcBef>
                  <a:spcPts val="333"/>
                </a:spcBef>
                <a:spcAft>
                  <a:spcPct val="0"/>
                </a:spcAft>
                <a:buFont typeface="Wingdings" pitchFamily="2" charset="2"/>
                <a:buChar char="q"/>
                <a:defRPr/>
              </a:pPr>
              <a:r>
                <a:rPr 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 pitchFamily="28" charset="-128"/>
                </a:rPr>
                <a:t> What is the improved process performance?</a:t>
              </a:r>
            </a:p>
            <a:p>
              <a:pPr marL="142869" indent="-142869" defTabSz="761970" fontAlgn="base">
                <a:spcBef>
                  <a:spcPts val="333"/>
                </a:spcBef>
                <a:spcAft>
                  <a:spcPct val="0"/>
                </a:spcAft>
                <a:buFont typeface="Wingdings" pitchFamily="2" charset="2"/>
                <a:buChar char="ü"/>
                <a:defRPr/>
              </a:pPr>
              <a:r>
                <a:rPr 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 pitchFamily="28" charset="-128"/>
                </a:rPr>
                <a:t>Does this represent enough repeated cycles?</a:t>
              </a:r>
            </a:p>
            <a:p>
              <a:pPr defTabSz="761970" fontAlgn="base">
                <a:spcBef>
                  <a:spcPts val="333"/>
                </a:spcBef>
                <a:spcAft>
                  <a:spcPct val="0"/>
                </a:spcAft>
                <a:defRPr/>
              </a:pPr>
              <a:r>
                <a:rPr lang="en-US" sz="1083" dirty="0">
                  <a:solidFill>
                    <a:schemeClr val="tx2">
                      <a:lumMod val="50000"/>
                    </a:schemeClr>
                  </a:solidFill>
                  <a:ea typeface="ヒラギノ角ゴ Pro W3" pitchFamily="28" charset="-128"/>
                </a:rPr>
                <a:t>Sustainability</a:t>
              </a:r>
            </a:p>
            <a:p>
              <a:pPr defTabSz="761970" fontAlgn="base">
                <a:spcBef>
                  <a:spcPts val="333"/>
                </a:spcBef>
                <a:spcAft>
                  <a:spcPct val="0"/>
                </a:spcAft>
                <a:buFont typeface="Wingdings" pitchFamily="2" charset="2"/>
                <a:buChar char="q"/>
                <a:defRPr/>
              </a:pPr>
              <a:r>
                <a:rPr 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 pitchFamily="28" charset="-128"/>
                </a:rPr>
                <a:t> How will the countermeasures be controlled?</a:t>
              </a:r>
            </a:p>
            <a:p>
              <a:pPr marL="142869" indent="-142869" defTabSz="761970" fontAlgn="base">
                <a:spcBef>
                  <a:spcPts val="333"/>
                </a:spcBef>
                <a:spcAft>
                  <a:spcPct val="0"/>
                </a:spcAft>
                <a:buFont typeface="Wingdings" pitchFamily="2" charset="2"/>
                <a:buChar char="ü"/>
                <a:defRPr/>
              </a:pPr>
              <a:r>
                <a:rPr 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 pitchFamily="28" charset="-128"/>
                </a:rPr>
                <a:t>To what degree are the countermeasures  part of standardized work &amp; current systems?</a:t>
              </a:r>
            </a:p>
            <a:p>
              <a:pPr defTabSz="761970" fontAlgn="base">
                <a:spcBef>
                  <a:spcPts val="333"/>
                </a:spcBef>
                <a:spcAft>
                  <a:spcPct val="0"/>
                </a:spcAft>
                <a:buFont typeface="Wingdings" pitchFamily="2" charset="2"/>
                <a:buChar char="q"/>
                <a:defRPr/>
              </a:pPr>
              <a:r>
                <a:rPr 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 pitchFamily="28" charset="-128"/>
                </a:rPr>
                <a:t> How will problems be detected and fixed rapidly?</a:t>
              </a:r>
            </a:p>
            <a:p>
              <a:pPr defTabSz="761970" fontAlgn="base">
                <a:spcBef>
                  <a:spcPts val="333"/>
                </a:spcBef>
                <a:spcAft>
                  <a:spcPct val="0"/>
                </a:spcAft>
                <a:buFont typeface="Wingdings" pitchFamily="2" charset="2"/>
                <a:buChar char="q"/>
                <a:defRPr/>
              </a:pPr>
              <a:r>
                <a:rPr 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 pitchFamily="28" charset="-128"/>
                </a:rPr>
                <a:t> </a:t>
              </a:r>
              <a:r>
                <a:rPr lang="en-US" sz="833" dirty="0">
                  <a:solidFill>
                    <a:schemeClr val="tx2">
                      <a:lumMod val="50000"/>
                    </a:schemeClr>
                  </a:solidFill>
                  <a:ea typeface="ヒラギノ角ゴ Pro W3" charset="-128"/>
                </a:rPr>
                <a:t>What are the sustaining financial benefits?</a:t>
              </a:r>
            </a:p>
            <a:p>
              <a:pPr defTabSz="761970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833" dirty="0">
                <a:solidFill>
                  <a:schemeClr val="tx2">
                    <a:lumMod val="50000"/>
                  </a:schemeClr>
                </a:solidFill>
                <a:ea typeface="ヒラギノ角ゴ Pro W3"/>
                <a:cs typeface="ヒラギノ角ゴ Pro W3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979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</Words>
  <Application>Microsoft Office PowerPoint</Application>
  <PresentationFormat>Widescreen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ヒラギノ角ゴ Pro W3</vt:lpstr>
      <vt:lpstr>Aptos</vt:lpstr>
      <vt:lpstr>Aptos Display</vt:lpstr>
      <vt:lpstr>Arial</vt:lpstr>
      <vt:lpstr>Avenir Next World</vt:lpstr>
      <vt:lpstr>Avenir Next World Demi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Wade, Chey</dc:creator>
  <cp:lastModifiedBy>Wade, Chey</cp:lastModifiedBy>
  <cp:revision>1</cp:revision>
  <dcterms:created xsi:type="dcterms:W3CDTF">2026-02-16T22:35:20Z</dcterms:created>
  <dcterms:modified xsi:type="dcterms:W3CDTF">2026-02-16T22:38:11Z</dcterms:modified>
</cp:coreProperties>
</file>